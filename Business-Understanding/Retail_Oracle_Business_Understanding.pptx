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4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ORACLE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Cart Intelligence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Anticipating consumer needs through sequential behavior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645920" cy="54864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— the analytical case for data-driven retail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760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pPr indent="0" marL="0">
              <a:buNone/>
            </a:pPr>
            <a:r>
              <a:rPr lang="en-US" sz="1100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Online Grocery  ·  FMCG  ·  E-Commerce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pPr indent="0" marL="0">
              <a:buNone/>
            </a:pPr>
            <a:r>
              <a:rPr lang="en-US" sz="1100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Instacart Market Basket Analysis  ·  3.4M orders  ·  200K customers  ·  50K products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pPr indent="0" marL="0">
              <a:buNone/>
            </a:pPr>
            <a:r>
              <a:rPr lang="en-US" sz="1100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MVP / Proof of Concept  ·  2 Sprints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in ten beats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0228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we are solving for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online grocery economics are unforgiving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calendar-driven to behaviour-driven merchandising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353964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630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groups with standing, five sets of needs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440832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4630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and analytical metrics, jointly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5277002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 business language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46304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3.4M orders actually tell us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442" y="1802282"/>
            <a:ext cx="281635" cy="2816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1323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the data is well-placed to answer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442" y="2670962"/>
            <a:ext cx="281635" cy="28163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323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1323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pillars: diagnosis, prediction, basket analysis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0" y="342900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442" y="3539642"/>
            <a:ext cx="281635" cy="28163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23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Assumptions, constraints &amp; risks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713232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argument could break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1442" y="4408322"/>
            <a:ext cx="281635" cy="28163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323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71323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output to operating decision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400800" y="516636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1442" y="5277002"/>
            <a:ext cx="281635" cy="28163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13232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sources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713232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 behind the claims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scales profitably is anticipation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grocery is a deceptively difficult business. The basket is small, the margin is thin, and the customer has fifteen competing apps within a thumb-stroke. What separates a platform that scales profitably from one that burns venture capital is not logistics — it is the quality of anticipation.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that understand what a household is about to need — before the household itself has opened the app — win the next order. Everyone else pays to acquire the same customer twice.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5852160" cy="1463040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754880"/>
            <a:ext cx="73152" cy="146304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846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Instacart transaction archive is dense enough to move grocery merchandising from calendar-driven promotion to behaviour-driven anticipation. The commercial prize is retention — the only growth lever in this category that actually compounds.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691640"/>
            <a:ext cx="4663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1691640"/>
            <a:ext cx="73152" cy="141732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$33.5B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TRANSACTION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2651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FY 2024 (10-K)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246120"/>
            <a:ext cx="4663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3246120"/>
            <a:ext cx="73152" cy="141732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3383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78040" y="3931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ANNUALLY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804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YoY, 14.4M monthly actives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4800600"/>
            <a:ext cx="4663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4800600"/>
            <a:ext cx="73152" cy="141732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4937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178040" y="5486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SENSITIVITY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5760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5-point lift in retention (Bain)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BUSINESS WE ARE SOLVING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online grocery is unforgiving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PRESSURES, ONE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20766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65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optimised for average, not actual demand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35000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Tuesday spike in organic bananas leaves a warehouse short by noon. The customer switches apps for the rest of the order.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34482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3375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homepages waste returning-customer intent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4440" y="372160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between app-open and checkout dampens conversion. Every irrelevant recommendation erodes trust.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48198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709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only compounding lever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509320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grocery customer costs 5–25× what retaining an existing one costs. Two bad orders in a row is lethal.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132320" y="1691640"/>
            <a:ext cx="4572000" cy="457200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315200" y="21945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grocery is a $1.5T market. Online penetration sits near 10% and is growing ~11% annually — a long runway still to be captured.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15200" y="3383280"/>
            <a:ext cx="731520" cy="36576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FIELD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0" y="38404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</a:t>
            </a:r>
            <a:pPr indent="0" marL="0">
              <a:buNone/>
            </a:pPr>
            <a:r>
              <a:rPr lang="en-US" sz="1200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own-network scale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</a:t>
            </a:r>
            <a:pPr indent="0" marL="0">
              <a:buNone/>
            </a:pPr>
            <a:r>
              <a:rPr lang="en-US" sz="1200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Prime + Fresh lock-in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</a:t>
            </a:r>
            <a:pPr indent="0" marL="0">
              <a:buNone/>
            </a:pPr>
            <a:r>
              <a:rPr lang="en-US" sz="1200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29% of third-party delivery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0" y="5074920"/>
            <a:ext cx="731520" cy="36576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0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LEVERS THAT COMPETE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315200" y="5532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D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assortment are capex. Personalisation is an analytics capability — and where this project plays.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BUSINESS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generic merchandising to household-specific anticipation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Calendar-driven, category-of-the-month merchandising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05740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691640"/>
            <a:ext cx="5394960" cy="109728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92240" y="2057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Household-specific, behaviour-driven anticipation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108960"/>
            <a:ext cx="269748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349392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prediction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for every (user, product) pair, feeding the "buy it again" rail and email pre-cart.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383280" y="310896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83280" y="3108960"/>
            <a:ext cx="269748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9" name="Shape 15"/>
          <p:cNvSpPr/>
          <p:nvPr/>
        </p:nvSpPr>
        <p:spPr>
          <a:xfrm>
            <a:off x="3611880" y="33832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349392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1188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affinity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61188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genuinely complementary products — not merely co-popular — for helpful cross-sell.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310896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7920" y="3108960"/>
            <a:ext cx="269748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5" name="Shape 20"/>
          <p:cNvSpPr/>
          <p:nvPr/>
        </p:nvSpPr>
        <p:spPr>
          <a:xfrm>
            <a:off x="6446520" y="33832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349392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4652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routine shoppers, stock-up families, organic households, experimental tasters.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052560" y="310896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052560" y="3108960"/>
            <a:ext cx="269748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31" name="Shape 25"/>
          <p:cNvSpPr/>
          <p:nvPr/>
        </p:nvSpPr>
        <p:spPr>
          <a:xfrm>
            <a:off x="9281160" y="33832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802" y="3493922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281160" y="3977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awareness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9281160" y="4389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when each household shops; drive notification timing and capacity planning.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5577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financially:  </a:t>
            </a:r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research finds a 5-point retention lift delivers </a:t>
            </a:r>
            <a:pPr indent="0" marL="0">
              <a:buNone/>
            </a:pPr>
            <a:r>
              <a:rPr lang="en-US" sz="12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25–95% profit improvement</a:t>
            </a:r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McKinsey finds well-executed personalisation delivers </a:t>
            </a:r>
            <a:pPr indent="0" marL="0">
              <a:buNone/>
            </a:pPr>
            <a:r>
              <a:rPr lang="en-US" sz="12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 revenue uplift</a:t>
            </a:r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10–30% marketing efficiency gains.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STAKEHOLDERS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product has no value until someone uses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12232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CRM leadership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reorder probabilities to personalise push, email pre-carts, and in-app placements.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657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737360"/>
            <a:ext cx="365760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21223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606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merchandising managers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staples, cannibalisation, and discovery products that drive basket growth.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657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737360"/>
            <a:ext cx="365760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8" name="Shape 14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212232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2606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supply chain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66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Household-level demand anticipation → picking density, fewer stock-outs, sharper perishable planning.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354580" y="4023360"/>
            <a:ext cx="3657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354580" y="4023360"/>
            <a:ext cx="365760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4" name="Shape 19"/>
          <p:cNvSpPr/>
          <p:nvPr/>
        </p:nvSpPr>
        <p:spPr>
          <a:xfrm>
            <a:off x="2583180" y="4297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822" y="44083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8318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58318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link from analytics spend to retention, basket size, and advertising yield.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149340" y="4023360"/>
            <a:ext cx="3657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49340" y="4023360"/>
            <a:ext cx="3657600" cy="73152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30" name="Shape 24"/>
          <p:cNvSpPr/>
          <p:nvPr/>
        </p:nvSpPr>
        <p:spPr>
          <a:xfrm>
            <a:off x="6377940" y="429768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582" y="4408322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37794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637794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relevant shopping. They never see the model — they feel its absence when it is wrong.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and analytical metrics — jointly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577840" cy="4572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next-order items correctly surfaced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53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proxy for recommendation relevance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264408"/>
            <a:ext cx="512064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55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30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order for exposed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lever in a thin-margin category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512064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88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at 30 / 60 / 90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818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compounding growth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5129784"/>
            <a:ext cx="512064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21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yield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4955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CPG-sponsored CTR and conversion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751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Highest-margin revenue line on the platform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73736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737360"/>
            <a:ext cx="5486400" cy="45720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OUTCOMES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2377440"/>
            <a:ext cx="320040" cy="32004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649" y="2447849"/>
            <a:ext cx="179222" cy="17922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4944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at (user, product) pair level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949440" y="2697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— the overwhelming majority of candidate pairs are not reorders.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92240" y="3310128"/>
            <a:ext cx="320040" cy="32004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649" y="3380537"/>
            <a:ext cx="179222" cy="17922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49440" y="3355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Threshold-free metrics beat raw accuracy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949440" y="36301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average precision, and F1-at-optimal-threshold are honest reference points; accuracy is not.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492240" y="4242816"/>
            <a:ext cx="320040" cy="32004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649" y="4313225"/>
            <a:ext cx="179222" cy="17922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49440" y="42885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disciplined baseline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6949440" y="45628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+ per-user reorder frequency is the bar. Sophistication must earn its keep.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492240" y="5175504"/>
            <a:ext cx="320040" cy="32004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49" y="5245913"/>
            <a:ext cx="179222" cy="17922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949440" y="5221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Diagnose, do not just score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6949440" y="5495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by segment, product, and department is what converts a model into a recommendation.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DATASET, IN BUSINESS 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3.4 million orders are actually telling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1430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691640"/>
            <a:ext cx="73152" cy="11430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91640"/>
            <a:ext cx="73152" cy="11430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across 21 departments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691640"/>
            <a:ext cx="73152" cy="11430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3544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Order-product rows in prior history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AT A GLANCE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4160520"/>
            <a:ext cx="1920240" cy="1005840"/>
          </a:xfrm>
          <a:prstGeom prst="rect">
            <a:avLst/>
          </a:prstGeom>
          <a:solidFill>
            <a:srgbClr val="1F3B2D"/>
          </a:solidFill>
          <a:ln w="9525">
            <a:solidFill>
              <a:srgbClr val="1F3B2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4270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57800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user_id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· hour · days_since_prior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520440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57400" y="3630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574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anonymised shoppers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3520440"/>
            <a:ext cx="1920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3630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582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· name · aisle · dept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507492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57400" y="5184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Order-Products (32M+)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057400" y="5486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add_to_cart_order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reordered (target flag)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507492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09560" y="5184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Aisles · Departments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909560" y="5486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aisles · 21 departments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(hierarchy for segmentation)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3931920"/>
            <a:ext cx="1280160" cy="548640"/>
          </a:xfrm>
          <a:prstGeom prst="line">
            <a:avLst/>
          </a:prstGeom>
          <a:noFill/>
          <a:ln w="15240">
            <a:solidFill>
              <a:srgbClr val="0F7A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931920"/>
            <a:ext cx="-1280160" cy="548640"/>
          </a:xfrm>
          <a:prstGeom prst="line">
            <a:avLst/>
          </a:prstGeom>
          <a:noFill/>
          <a:ln w="15240">
            <a:solidFill>
              <a:srgbClr val="0F7A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5166360"/>
            <a:ext cx="-1371600" cy="182880"/>
          </a:xfrm>
          <a:prstGeom prst="line">
            <a:avLst/>
          </a:prstGeom>
          <a:noFill/>
          <a:ln w="15240">
            <a:solidFill>
              <a:srgbClr val="0F7A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81160" y="4343400"/>
            <a:ext cx="0" cy="731520"/>
          </a:xfrm>
          <a:prstGeom prst="line">
            <a:avLst/>
          </a:prstGeom>
          <a:noFill/>
          <a:ln w="15240">
            <a:solidFill>
              <a:srgbClr val="0F7A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DATASET,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won or lost on 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 pattern operates at the (user, product) pair level. For every plausible pair, the pipeline computes three layers of features — the cross-layer usually carries the predictive power.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97480"/>
            <a:ext cx="3657600" cy="54864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61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5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962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frequency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diversity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preference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affinity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on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974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697480"/>
            <a:ext cx="3657600" cy="54864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761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5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962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popularity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cart position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/ department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signals from 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69748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697480"/>
            <a:ext cx="3566160" cy="54864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5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2962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× Product (cross)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3832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this user bought this product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 of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item vs. one-time experiment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vs. this user's baseline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053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note: </a:t>
            </a:r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(user, product) candidate space runs into the hundreds of millions of rows — gradient-boosted trees dominate production deployments for exactly this reason.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BUSINESS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the data is well-placed to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most frequently reordered — overall and by department?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320040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63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"buy it again" surface and perishable stock planning.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9202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temporal patterns characterise peak purchasing — hour, day, inter-order gap?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2971800"/>
            <a:ext cx="320040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063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push-notification timing and shopper-capacity planning.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65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06840" y="192024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basket compositions differ across customer segments?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66760" y="2971800"/>
            <a:ext cx="320040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063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segment-specific merchandising and richer ad-audience taxonomy.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06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41605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true complements, not merely co-popular?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212080"/>
            <a:ext cx="320040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303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helpful cross-sell surfaces that feel relevant, not spammy.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39319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416052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206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41605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shopping frequency evolve over customer tenure?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0" y="5212080"/>
            <a:ext cx="320040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5303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Lifecycle-stage CRM and early-churn risk flagging.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39319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66760" y="4160520"/>
            <a:ext cx="502920" cy="50292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206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06840" y="41605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identifiable preference signatures — organic, gluten-free, low-fat?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66760" y="5212080"/>
            <a:ext cx="3200400" cy="9144"/>
          </a:xfrm>
          <a:prstGeom prst="rect">
            <a:avLst/>
          </a:prstGeom>
          <a:solidFill>
            <a:srgbClr val="E1E4E6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5303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i="1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Dietary-aware personalisation and CPG ad-placement quality.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ANALYTICAL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— each tied to a business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75888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75888" cy="82296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diagnosis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rgbClr val="1F3B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8639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474720"/>
            <a:ext cx="3218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EDA pass surfaces temporal rhythms, the long tail of product popularity, basket-size distribution, and reorder-rate skew across departments. Output is testable hypotheses and a candid read on data quality — not charts for charts' sake.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760720"/>
            <a:ext cx="3675888" cy="365760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580644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owner: analytics lead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4256" y="1691640"/>
            <a:ext cx="3675888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34256" y="1691640"/>
            <a:ext cx="3675888" cy="82296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15" name="Text 12"/>
          <p:cNvSpPr/>
          <p:nvPr/>
        </p:nvSpPr>
        <p:spPr>
          <a:xfrm>
            <a:off x="4517136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17136" y="205740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prediction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62856" y="2743200"/>
            <a:ext cx="548640" cy="548640"/>
          </a:xfrm>
          <a:prstGeom prst="ellipse">
            <a:avLst/>
          </a:prstGeom>
          <a:solidFill>
            <a:srgbClr val="1F3B2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57" y="286390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62856" y="3474720"/>
            <a:ext cx="3218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score every (user, product) pair with a reorder probability. Benchmarked against a popularity + per-user reorder baseline. Threshold-free metrics (AUC, AP) carry the evaluation; error analysis is non-negotiable.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334256" y="5760720"/>
            <a:ext cx="3675888" cy="365760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21" name="Text 17"/>
          <p:cNvSpPr/>
          <p:nvPr/>
        </p:nvSpPr>
        <p:spPr>
          <a:xfrm>
            <a:off x="4517136" y="580644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owner: CRM &amp; recommendation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19872" y="1691640"/>
            <a:ext cx="3675888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19872" y="1691640"/>
            <a:ext cx="3675888" cy="82296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4" name="Text 20"/>
          <p:cNvSpPr/>
          <p:nvPr/>
        </p:nvSpPr>
        <p:spPr>
          <a:xfrm>
            <a:off x="8302752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302752" y="205740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&amp; segmentation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8348472" y="2743200"/>
            <a:ext cx="548640" cy="548640"/>
          </a:xfrm>
          <a:prstGeom prst="ellipse">
            <a:avLst/>
          </a:prstGeom>
          <a:solidFill>
            <a:srgbClr val="1F3B2D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863901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48472" y="3474720"/>
            <a:ext cx="32186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surface genuine complements. A compact behavioural clustering identifies coherent segments. Text features from product names add dietary signals that pure hierarchy misses.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119872" y="5760720"/>
            <a:ext cx="3675888" cy="365760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30" name="Text 25"/>
          <p:cNvSpPr/>
          <p:nvPr/>
        </p:nvSpPr>
        <p:spPr>
          <a:xfrm>
            <a:off x="8302752" y="580644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owner: merchandising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ASSUMPTIONS, CONSTRAINTS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argument could break — and what we watch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7588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75888" cy="64008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21868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predictability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is routinised enough for historical signal to project forward — less true for new users and life-transition households.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representativeness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Kaggle release is a sample, not a statistically balanced panel. Caveat any prevalence claim.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stability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predates recent macro shocks. Go-live decisions require a re-training plan.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price, promotion, or stockout data. Some commercial interpretations will remain provisional.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67588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691640"/>
            <a:ext cx="3675888" cy="640080"/>
          </a:xfrm>
          <a:prstGeom prst="rect">
            <a:avLst/>
          </a:prstGeom>
          <a:solidFill>
            <a:srgbClr val="D97D3B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1783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2856" y="2514600"/>
            <a:ext cx="321868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recommendations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push, discount, and prime slot costs margin or attention. Model output is an input to a business decision, not the decision itself.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CCPA, and emerging U.S. state rules; grocery baskets reveal conditions customers never volunteer. Firm position required.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over model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defer to supply-chain and merchandising constraints — stock, margin, contract obligations.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67588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691640"/>
            <a:ext cx="3675888" cy="64008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14" name="Text 12"/>
          <p:cNvSpPr/>
          <p:nvPr/>
        </p:nvSpPr>
        <p:spPr>
          <a:xfrm>
            <a:off x="8348472" y="1783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2514600"/>
            <a:ext cx="321868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recommender surfaces what everyone buys — useful for new users, unhelpful for customers whose routine diverges from the mean.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and new products have no history; fall-back rules are non-negotiable.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recommendations shape behaviour, next-gen training data is no longer clean. Mitigated in production via systematic exploration.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taste evolves. A model of the past is, by construction, a model of the past.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EXPECTED 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output to operating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08960" cy="73152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751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1737360"/>
            <a:ext cx="7452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34840" y="1810512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generic "people-who-bought" with household-specific reorder probabilities; "buy it again" becomes personalised, not globally popular.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587752"/>
            <a:ext cx="3108960" cy="73152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2724912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254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587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push notifications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770632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51960" y="2587752"/>
            <a:ext cx="7452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434840" y="2660904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shifts from calendar-driven to due-date-driven, using inter-order gap signals to reach households when receptive.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438144"/>
            <a:ext cx="3108960" cy="73152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19" name="Shape 13"/>
          <p:cNvSpPr/>
          <p:nvPr/>
        </p:nvSpPr>
        <p:spPr>
          <a:xfrm>
            <a:off x="685800" y="3575304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67588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43814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&amp; promotion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621024"/>
            <a:ext cx="365760" cy="3657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251960" y="3438144"/>
            <a:ext cx="7452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434840" y="3511296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weight shifts from already-habitual staples toward adjacencies that actually change behaviour.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8640" y="4288536"/>
            <a:ext cx="3108960" cy="73152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26" name="Shape 18"/>
          <p:cNvSpPr/>
          <p:nvPr/>
        </p:nvSpPr>
        <p:spPr>
          <a:xfrm>
            <a:off x="685800" y="4425696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52628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80160" y="428853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fulfilment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4471416"/>
            <a:ext cx="365760" cy="36576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4251960" y="4288536"/>
            <a:ext cx="7452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434840" y="436168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Household-level demand anticipation aggregates into sharper perishable planning and shopper-route density.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548640" y="5138928"/>
            <a:ext cx="3108960" cy="731520"/>
          </a:xfrm>
          <a:prstGeom prst="rect">
            <a:avLst/>
          </a:prstGeom>
          <a:solidFill>
            <a:srgbClr val="1F3B2D"/>
          </a:solidFill>
          <a:ln/>
        </p:spPr>
      </p:sp>
      <p:sp>
        <p:nvSpPr>
          <p:cNvPr id="33" name="Shape 23"/>
          <p:cNvSpPr/>
          <p:nvPr/>
        </p:nvSpPr>
        <p:spPr>
          <a:xfrm>
            <a:off x="685800" y="5276088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5376672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280160" y="5138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yield</a:t>
            </a:r>
            <a:endParaRPr lang="en-US" sz="13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5321808"/>
            <a:ext cx="365760" cy="36576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4251960" y="5138928"/>
            <a:ext cx="7452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6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4434840" y="521208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audience profiling — diet, segment, lifecycle — improves targeting quality that Instacart sells to CPG partners (highest-margin line).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solidFill>
            <a:srgbClr val="E3F0E8"/>
          </a:solidFill>
          <a:ln/>
        </p:spPr>
      </p:sp>
      <p:sp>
        <p:nvSpPr>
          <p:cNvPr id="40" name="Shape 28"/>
          <p:cNvSpPr/>
          <p:nvPr/>
        </p:nvSpPr>
        <p:spPr>
          <a:xfrm>
            <a:off x="548640" y="5989320"/>
            <a:ext cx="73152" cy="41148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41" name="Text 29"/>
          <p:cNvSpPr/>
          <p:nvPr/>
        </p:nvSpPr>
        <p:spPr>
          <a:xfrm>
            <a:off x="777240" y="60167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magnitude:  </a:t>
            </a:r>
            <a:pPr indent="0" marL="0">
              <a:buNone/>
            </a:pPr>
            <a:r>
              <a:rPr lang="en-US" sz="11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$33.5B GTV and 294M orders, even modest basket or retention improvements translate into impact that dwarfs the analytics investment.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BRIDGE TO THE NEXT CHAPTER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chapter commits us 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109728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5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chapter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184" y="2606040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88920" y="2194560"/>
            <a:ext cx="2103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288036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8036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&amp; EDA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60604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2194560"/>
            <a:ext cx="2103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512064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2064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product · cross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2606040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69480" y="2194560"/>
            <a:ext cx="2103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736092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36092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classifier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60604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509760" y="2194560"/>
            <a:ext cx="21031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96012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60120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77240" y="4206240"/>
            <a:ext cx="530352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B07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206240"/>
            <a:ext cx="73152" cy="18288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5" name="Text 19"/>
          <p:cNvSpPr/>
          <p:nvPr/>
        </p:nvSpPr>
        <p:spPr>
          <a:xfrm>
            <a:off x="10058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0584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subsequent chapter traces back to a business question posed here. If an analysis drifts into new ground, this chapter is revised — not bypassed.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080760" y="4206240"/>
            <a:ext cx="530352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B07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80760" y="4206240"/>
            <a:ext cx="73152" cy="1828800"/>
          </a:xfrm>
          <a:prstGeom prst="rect">
            <a:avLst/>
          </a:prstGeom>
          <a:solidFill>
            <a:srgbClr val="0F7A4D"/>
          </a:solidFill>
          <a:ln/>
        </p:spPr>
      </p:sp>
      <p:sp>
        <p:nvSpPr>
          <p:cNvPr id="29" name="Text 23"/>
          <p:cNvSpPr/>
          <p:nvPr/>
        </p:nvSpPr>
        <p:spPr>
          <a:xfrm>
            <a:off x="630936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B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30936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confronts these hypotheses with the dataset. A dataset that behaves exactly as the narrative predicts has not been looked at carefully enough.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Maplebear Inc. (Instacart)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10-K, fiscal year ended December 31, 2024 — GTV, orders, revenue, profitability.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43000" y="2350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investors.instacart.com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"Instacart revenue, valuation &amp; funding," 2025 — take-rate and advertising economics.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32644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sacra.com/c/instacart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478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LoyaltyLion / SimplicityDX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Average CAC in Ecommerce," 2025 — customer acquisition economics in retail.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loyaltylion.com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62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Reichheld &amp; Bain / HBR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"E-Loyalty: Your Secret Weapon on the Web" — 5% retention → 25–95% profit sensitivity.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" y="50932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hbr.org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76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5623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value of getting personalization right — or wrong — is multiplying," 2021.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" y="60076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mckinsey.com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7190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"Instacart Market Basket Analysis" competition dataset.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2350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kaggle.com/datasets/psparks/instacart-market-basket-analysis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26060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Grocer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Instacart Fare in Q4, FY24?" — Feb 2025; Q4 shareholder letter.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0" y="32644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progressivegrocer.com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5204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5478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of Apps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"Instacart Revenue and Usage Statistics," 2026 platform-scale statistics.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58000" y="41788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businessofapps.com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4462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eMarketer / Insider Intelligence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online grocery market sizing and penetration estimates.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58000" y="50932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emarketer.com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5349240"/>
            <a:ext cx="457200" cy="457200"/>
          </a:xfrm>
          <a:prstGeom prst="ellipse">
            <a:avLst/>
          </a:prstGeom>
          <a:solidFill>
            <a:srgbClr val="0F7A4D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5376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Group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58000" y="5623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"34 Retail Customer Retention Statistics," 2026 retention benchmarks.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58000" y="60076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anchorgroup.tech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Oracle  ·  Business Understanding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Oracle — Business Understanding</dc:title>
  <dc:subject>PptxGenJS Presentation</dc:subject>
  <dc:creator> </dc:creator>
  <cp:lastModifiedBy> </cp:lastModifiedBy>
  <cp:revision>1</cp:revision>
  <dcterms:created xsi:type="dcterms:W3CDTF">2026-04-20T11:15:44Z</dcterms:created>
  <dcterms:modified xsi:type="dcterms:W3CDTF">2026-04-20T11:15:44Z</dcterms:modified>
</cp:coreProperties>
</file>